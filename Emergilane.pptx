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roxima Nova Bold" charset="1" panose="02000506030000020004"/>
      <p:regular r:id="rId15"/>
    </p:embeddedFont>
    <p:embeddedFont>
      <p:font typeface="Proxima Nova" charset="1" panose="020005060300000200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86864" y="2106633"/>
            <a:ext cx="2814723" cy="4539876"/>
          </a:xfrm>
          <a:custGeom>
            <a:avLst/>
            <a:gdLst/>
            <a:ahLst/>
            <a:cxnLst/>
            <a:rect r="r" b="b" t="t" l="l"/>
            <a:pathLst>
              <a:path h="4539876" w="2814723">
                <a:moveTo>
                  <a:pt x="0" y="0"/>
                </a:moveTo>
                <a:lnTo>
                  <a:pt x="2814724" y="0"/>
                </a:lnTo>
                <a:lnTo>
                  <a:pt x="2814724"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092407" y="82296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7049453" y="1756544"/>
            <a:ext cx="10686008" cy="1799335"/>
          </a:xfrm>
          <a:prstGeom prst="rect">
            <a:avLst/>
          </a:prstGeom>
        </p:spPr>
        <p:txBody>
          <a:bodyPr anchor="t" rtlCol="false" tIns="0" lIns="0" bIns="0" rIns="0">
            <a:spAutoFit/>
          </a:bodyPr>
          <a:lstStyle/>
          <a:p>
            <a:pPr algn="l">
              <a:lnSpc>
                <a:spcPts val="13040"/>
              </a:lnSpc>
            </a:pPr>
            <a:r>
              <a:rPr lang="en-US" sz="14818" spc="-933" b="true">
                <a:solidFill>
                  <a:srgbClr val="1C0140"/>
                </a:solidFill>
                <a:latin typeface="Proxima Nova Bold"/>
                <a:ea typeface="Proxima Nova Bold"/>
                <a:cs typeface="Proxima Nova Bold"/>
                <a:sym typeface="Proxima Nova Bold"/>
              </a:rPr>
              <a:t>EMERGILANE</a:t>
            </a:r>
          </a:p>
        </p:txBody>
      </p:sp>
      <p:sp>
        <p:nvSpPr>
          <p:cNvPr name="TextBox 9" id="9"/>
          <p:cNvSpPr txBox="true"/>
          <p:nvPr/>
        </p:nvSpPr>
        <p:spPr>
          <a:xfrm rot="0">
            <a:off x="7344538" y="4505833"/>
            <a:ext cx="9280764" cy="702945"/>
          </a:xfrm>
          <a:prstGeom prst="rect">
            <a:avLst/>
          </a:prstGeom>
        </p:spPr>
        <p:txBody>
          <a:bodyPr anchor="t" rtlCol="false" tIns="0" lIns="0" bIns="0" rIns="0">
            <a:spAutoFit/>
          </a:bodyPr>
          <a:lstStyle/>
          <a:p>
            <a:pPr algn="l">
              <a:lnSpc>
                <a:spcPts val="2639"/>
              </a:lnSpc>
            </a:pPr>
            <a:r>
              <a:rPr lang="en-US" b="true" sz="2999" spc="86">
                <a:solidFill>
                  <a:srgbClr val="1C0140"/>
                </a:solidFill>
                <a:latin typeface="Proxima Nova Bold"/>
                <a:ea typeface="Proxima Nova Bold"/>
                <a:cs typeface="Proxima Nova Bold"/>
                <a:sym typeface="Proxima Nova Bold"/>
              </a:rPr>
              <a:t>AN ADAPTIVE EMERGENCY CORRIDOR CUM TRAFFIC INTELLIGENCE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521878" y="-466924"/>
            <a:ext cx="2310789" cy="3947000"/>
          </a:xfrm>
          <a:custGeom>
            <a:avLst/>
            <a:gdLst/>
            <a:ahLst/>
            <a:cxnLst/>
            <a:rect r="r" b="b" t="t" l="l"/>
            <a:pathLst>
              <a:path h="3947000" w="2310789">
                <a:moveTo>
                  <a:pt x="0" y="0"/>
                </a:moveTo>
                <a:lnTo>
                  <a:pt x="2310789" y="0"/>
                </a:lnTo>
                <a:lnTo>
                  <a:pt x="2310789" y="3947000"/>
                </a:lnTo>
                <a:lnTo>
                  <a:pt x="0" y="394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2559" y="3380903"/>
            <a:ext cx="5511729" cy="3868232"/>
          </a:xfrm>
          <a:custGeom>
            <a:avLst/>
            <a:gdLst/>
            <a:ahLst/>
            <a:cxnLst/>
            <a:rect r="r" b="b" t="t" l="l"/>
            <a:pathLst>
              <a:path h="3868232" w="5511729">
                <a:moveTo>
                  <a:pt x="0" y="0"/>
                </a:moveTo>
                <a:lnTo>
                  <a:pt x="5511730" y="0"/>
                </a:lnTo>
                <a:lnTo>
                  <a:pt x="5511730"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045463" y="240749"/>
            <a:ext cx="3287416" cy="4195078"/>
          </a:xfrm>
          <a:custGeom>
            <a:avLst/>
            <a:gdLst/>
            <a:ahLst/>
            <a:cxnLst/>
            <a:rect r="r" b="b" t="t" l="l"/>
            <a:pathLst>
              <a:path h="4195078" w="3287416">
                <a:moveTo>
                  <a:pt x="0" y="0"/>
                </a:moveTo>
                <a:lnTo>
                  <a:pt x="3287415" y="0"/>
                </a:lnTo>
                <a:lnTo>
                  <a:pt x="3287415" y="4195078"/>
                </a:lnTo>
                <a:lnTo>
                  <a:pt x="0" y="41950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63962" y="6813873"/>
            <a:ext cx="6344372" cy="4106539"/>
          </a:xfrm>
          <a:custGeom>
            <a:avLst/>
            <a:gdLst/>
            <a:ahLst/>
            <a:cxnLst/>
            <a:rect r="r" b="b" t="t" l="l"/>
            <a:pathLst>
              <a:path h="4106539" w="6344372">
                <a:moveTo>
                  <a:pt x="0" y="0"/>
                </a:moveTo>
                <a:lnTo>
                  <a:pt x="6344372" y="0"/>
                </a:lnTo>
                <a:lnTo>
                  <a:pt x="6344372" y="4106539"/>
                </a:lnTo>
                <a:lnTo>
                  <a:pt x="0" y="41065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416400" y="5191735"/>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7938437" y="1098311"/>
            <a:ext cx="10051408" cy="1225155"/>
          </a:xfrm>
          <a:prstGeom prst="rect">
            <a:avLst/>
          </a:prstGeom>
        </p:spPr>
        <p:txBody>
          <a:bodyPr anchor="t" rtlCol="false" tIns="0" lIns="0" bIns="0" rIns="0">
            <a:spAutoFit/>
          </a:bodyPr>
          <a:lstStyle/>
          <a:p>
            <a:pPr algn="l">
              <a:lnSpc>
                <a:spcPts val="8847"/>
              </a:lnSpc>
            </a:pPr>
            <a:r>
              <a:rPr lang="en-US" sz="10053" spc="-633" b="true">
                <a:solidFill>
                  <a:srgbClr val="1C0140"/>
                </a:solidFill>
                <a:latin typeface="Proxima Nova Bold"/>
                <a:ea typeface="Proxima Nova Bold"/>
                <a:cs typeface="Proxima Nova Bold"/>
                <a:sym typeface="Proxima Nova Bold"/>
              </a:rPr>
              <a:t>Project Overview</a:t>
            </a:r>
          </a:p>
        </p:txBody>
      </p:sp>
      <p:sp>
        <p:nvSpPr>
          <p:cNvPr name="TextBox 8" id="8"/>
          <p:cNvSpPr txBox="true"/>
          <p:nvPr/>
        </p:nvSpPr>
        <p:spPr>
          <a:xfrm rot="0">
            <a:off x="8625697" y="3974661"/>
            <a:ext cx="9144313" cy="3898774"/>
          </a:xfrm>
          <a:prstGeom prst="rect">
            <a:avLst/>
          </a:prstGeom>
        </p:spPr>
        <p:txBody>
          <a:bodyPr anchor="t" rtlCol="false" tIns="0" lIns="0" bIns="0" rIns="0">
            <a:spAutoFit/>
          </a:bodyPr>
          <a:lstStyle/>
          <a:p>
            <a:pPr algn="l">
              <a:lnSpc>
                <a:spcPts val="4445"/>
              </a:lnSpc>
            </a:pPr>
            <a:r>
              <a:rPr lang="en-US" sz="2599" b="true">
                <a:solidFill>
                  <a:srgbClr val="1C0140"/>
                </a:solidFill>
                <a:latin typeface="Proxima Nova Bold"/>
                <a:ea typeface="Proxima Nova Bold"/>
                <a:cs typeface="Proxima Nova Bold"/>
                <a:sym typeface="Proxima Nova Bold"/>
              </a:rPr>
              <a:t>A smart traffic management system that prioritizes emergency vehicles at intersections using real-time detection and signal control.  Dynamically overrides traffic lights and applies priority logic to handle multiple vehicles. Built using ESP32 and Bluetooth communication, it ensuring faster and conflict-free clearance. Designed as a scalable solution for smart city infrastructure.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44494" y="2596239"/>
            <a:ext cx="6878626" cy="6878626"/>
          </a:xfrm>
          <a:custGeom>
            <a:avLst/>
            <a:gdLst/>
            <a:ahLst/>
            <a:cxnLst/>
            <a:rect r="r" b="b" t="t" l="l"/>
            <a:pathLst>
              <a:path h="6878626" w="6878626">
                <a:moveTo>
                  <a:pt x="0" y="0"/>
                </a:moveTo>
                <a:lnTo>
                  <a:pt x="6878626" y="0"/>
                </a:lnTo>
                <a:lnTo>
                  <a:pt x="6878626" y="6878626"/>
                </a:lnTo>
                <a:lnTo>
                  <a:pt x="0" y="6878626"/>
                </a:lnTo>
                <a:lnTo>
                  <a:pt x="0" y="0"/>
                </a:lnTo>
                <a:close/>
              </a:path>
            </a:pathLst>
          </a:custGeom>
          <a:blipFill>
            <a:blip r:embed="rId2"/>
            <a:stretch>
              <a:fillRect l="0" t="0" r="0" b="0"/>
            </a:stretch>
          </a:blipFill>
        </p:spPr>
      </p:sp>
      <p:sp>
        <p:nvSpPr>
          <p:cNvPr name="TextBox 3" id="3"/>
          <p:cNvSpPr txBox="true"/>
          <p:nvPr/>
        </p:nvSpPr>
        <p:spPr>
          <a:xfrm rot="0">
            <a:off x="427702" y="983462"/>
            <a:ext cx="15390835" cy="877450"/>
          </a:xfrm>
          <a:prstGeom prst="rect">
            <a:avLst/>
          </a:prstGeom>
        </p:spPr>
        <p:txBody>
          <a:bodyPr anchor="t" rtlCol="false" tIns="0" lIns="0" bIns="0" rIns="0">
            <a:spAutoFit/>
          </a:bodyPr>
          <a:lstStyle/>
          <a:p>
            <a:pPr algn="just">
              <a:lnSpc>
                <a:spcPts val="6302"/>
              </a:lnSpc>
            </a:pPr>
            <a:r>
              <a:rPr lang="en-US" b="true" sz="7162" spc="-451">
                <a:solidFill>
                  <a:srgbClr val="1C0140"/>
                </a:solidFill>
                <a:latin typeface="Proxima Nova Bold"/>
                <a:ea typeface="Proxima Nova Bold"/>
                <a:cs typeface="Proxima Nova Bold"/>
                <a:sym typeface="Proxima Nova Bold"/>
              </a:rPr>
              <a:t>Critical Challenge in Urban Traffic</a:t>
            </a:r>
          </a:p>
        </p:txBody>
      </p:sp>
      <p:sp>
        <p:nvSpPr>
          <p:cNvPr name="TextBox 4" id="4"/>
          <p:cNvSpPr txBox="true"/>
          <p:nvPr/>
        </p:nvSpPr>
        <p:spPr>
          <a:xfrm rot="0">
            <a:off x="8952909" y="2386344"/>
            <a:ext cx="8698121" cy="7222216"/>
          </a:xfrm>
          <a:prstGeom prst="rect">
            <a:avLst/>
          </a:prstGeom>
        </p:spPr>
        <p:txBody>
          <a:bodyPr anchor="t" rtlCol="false" tIns="0" lIns="0" bIns="0" rIns="0">
            <a:spAutoFit/>
          </a:bodyPr>
          <a:lstStyle/>
          <a:p>
            <a:pPr algn="ctr">
              <a:lnSpc>
                <a:spcPts val="5760"/>
              </a:lnSpc>
              <a:spcBef>
                <a:spcPct val="0"/>
              </a:spcBef>
            </a:pPr>
            <a:r>
              <a:rPr lang="en-US" b="true" sz="4114" spc="-259">
                <a:solidFill>
                  <a:srgbClr val="1C0140"/>
                </a:solidFill>
                <a:latin typeface="Proxima Nova Bold"/>
                <a:ea typeface="Proxima Nova Bold"/>
                <a:cs typeface="Proxima Nova Bold"/>
                <a:sym typeface="Proxima Nova Bold"/>
              </a:rPr>
              <a:t>Emergency vehicles often get delayed at traffic intersections due to congestion and fixed-timer signals. These systems cannot adapt to real-time situations or prioritize urgent vehicles. The problem becomes worse when multiple emergency vehicles arrive simultaneously, with no mechanism to decide priority. This leads to critical delays, increasing the risk to lives and public safety.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4004072" y="334800"/>
            <a:ext cx="10279856" cy="1500159"/>
          </a:xfrm>
          <a:prstGeom prst="rect">
            <a:avLst/>
          </a:prstGeom>
        </p:spPr>
        <p:txBody>
          <a:bodyPr anchor="t" rtlCol="false" tIns="0" lIns="0" bIns="0" rIns="0">
            <a:spAutoFit/>
          </a:bodyPr>
          <a:lstStyle/>
          <a:p>
            <a:pPr algn="ctr">
              <a:lnSpc>
                <a:spcPts val="12339"/>
              </a:lnSpc>
              <a:spcBef>
                <a:spcPct val="0"/>
              </a:spcBef>
            </a:pPr>
            <a:r>
              <a:rPr lang="en-US" b="true" sz="8813" spc="-555">
                <a:solidFill>
                  <a:srgbClr val="000000"/>
                </a:solidFill>
                <a:latin typeface="Proxima Nova Bold"/>
                <a:ea typeface="Proxima Nova Bold"/>
                <a:cs typeface="Proxima Nova Bold"/>
                <a:sym typeface="Proxima Nova Bold"/>
              </a:rPr>
              <a:t>Objective of our Project</a:t>
            </a:r>
          </a:p>
        </p:txBody>
      </p:sp>
      <p:sp>
        <p:nvSpPr>
          <p:cNvPr name="TextBox 3" id="3"/>
          <p:cNvSpPr txBox="true"/>
          <p:nvPr/>
        </p:nvSpPr>
        <p:spPr>
          <a:xfrm rot="0">
            <a:off x="736574" y="2258645"/>
            <a:ext cx="13948488" cy="7670685"/>
          </a:xfrm>
          <a:prstGeom prst="rect">
            <a:avLst/>
          </a:prstGeom>
        </p:spPr>
        <p:txBody>
          <a:bodyPr anchor="t" rtlCol="false" tIns="0" lIns="0" bIns="0" rIns="0">
            <a:spAutoFit/>
          </a:bodyPr>
          <a:lstStyle/>
          <a:p>
            <a:pPr algn="l" marL="1064278" indent="-532139" lvl="1">
              <a:lnSpc>
                <a:spcPts val="6901"/>
              </a:lnSpc>
              <a:buFont typeface="Arial"/>
              <a:buChar char="•"/>
            </a:pPr>
            <a:r>
              <a:rPr lang="en-US" b="true" sz="4929" spc="-310">
                <a:solidFill>
                  <a:srgbClr val="000000"/>
                </a:solidFill>
                <a:latin typeface="Proxima Nova Bold"/>
                <a:ea typeface="Proxima Nova Bold"/>
                <a:cs typeface="Proxima Nova Bold"/>
                <a:sym typeface="Proxima Nova Bold"/>
              </a:rPr>
              <a:t>Efficiently manage traffic flow at intersections using a smart control system</a:t>
            </a:r>
          </a:p>
          <a:p>
            <a:pPr algn="l" marL="1064278" indent="-532139" lvl="1">
              <a:lnSpc>
                <a:spcPts val="6901"/>
              </a:lnSpc>
              <a:buFont typeface="Arial"/>
              <a:buChar char="•"/>
            </a:pPr>
            <a:r>
              <a:rPr lang="en-US" b="true" sz="4929" spc="-310">
                <a:solidFill>
                  <a:srgbClr val="000000"/>
                </a:solidFill>
                <a:latin typeface="Proxima Nova Bold"/>
                <a:ea typeface="Proxima Nova Bold"/>
                <a:cs typeface="Proxima Nova Bold"/>
                <a:sym typeface="Proxima Nova Bold"/>
              </a:rPr>
              <a:t>Provide immediate priority and clear passage for emergency vehicles</a:t>
            </a:r>
          </a:p>
          <a:p>
            <a:pPr algn="l" marL="1064278" indent="-532139" lvl="1">
              <a:lnSpc>
                <a:spcPts val="6901"/>
              </a:lnSpc>
              <a:buFont typeface="Arial"/>
              <a:buChar char="•"/>
            </a:pPr>
            <a:r>
              <a:rPr lang="en-US" b="true" sz="4929" spc="-310">
                <a:solidFill>
                  <a:srgbClr val="000000"/>
                </a:solidFill>
                <a:latin typeface="Proxima Nova Bold"/>
                <a:ea typeface="Proxima Nova Bold"/>
                <a:cs typeface="Proxima Nova Bold"/>
                <a:sym typeface="Proxima Nova Bold"/>
              </a:rPr>
              <a:t>Pre-clear the lane before the emergency vehicle arrives to prevent blockage</a:t>
            </a:r>
          </a:p>
          <a:p>
            <a:pPr algn="l" marL="1064278" indent="-532139" lvl="1">
              <a:lnSpc>
                <a:spcPts val="6901"/>
              </a:lnSpc>
              <a:buFont typeface="Arial"/>
              <a:buChar char="•"/>
            </a:pPr>
            <a:r>
              <a:rPr lang="en-US" b="true" sz="4929" spc="-310">
                <a:solidFill>
                  <a:srgbClr val="000000"/>
                </a:solidFill>
                <a:latin typeface="Proxima Nova Bold"/>
                <a:ea typeface="Proxima Nova Bold"/>
                <a:cs typeface="Proxima Nova Bold"/>
                <a:sym typeface="Proxima Nova Bold"/>
              </a:rPr>
              <a:t>Implement a priority mechanism to handle multiple emergency vehicles simultaneously without conflict</a:t>
            </a:r>
          </a:p>
          <a:p>
            <a:pPr algn="l">
              <a:lnSpc>
                <a:spcPts val="536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243770" y="3348581"/>
            <a:ext cx="7529758" cy="4785424"/>
          </a:xfrm>
          <a:custGeom>
            <a:avLst/>
            <a:gdLst/>
            <a:ahLst/>
            <a:cxnLst/>
            <a:rect r="r" b="b" t="t" l="l"/>
            <a:pathLst>
              <a:path h="4785424" w="7529758">
                <a:moveTo>
                  <a:pt x="0" y="0"/>
                </a:moveTo>
                <a:lnTo>
                  <a:pt x="7529757" y="0"/>
                </a:lnTo>
                <a:lnTo>
                  <a:pt x="7529757" y="4785424"/>
                </a:lnTo>
                <a:lnTo>
                  <a:pt x="0" y="4785424"/>
                </a:lnTo>
                <a:lnTo>
                  <a:pt x="0" y="0"/>
                </a:lnTo>
                <a:close/>
              </a:path>
            </a:pathLst>
          </a:custGeom>
          <a:blipFill>
            <a:blip r:embed="rId2"/>
            <a:stretch>
              <a:fillRect l="-8609" t="-1996" r="-2537" b="0"/>
            </a:stretch>
          </a:blipFill>
        </p:spPr>
      </p:sp>
      <p:sp>
        <p:nvSpPr>
          <p:cNvPr name="TextBox 3" id="3"/>
          <p:cNvSpPr txBox="true"/>
          <p:nvPr/>
        </p:nvSpPr>
        <p:spPr>
          <a:xfrm rot="0">
            <a:off x="7964618" y="2633882"/>
            <a:ext cx="9624475" cy="7387260"/>
          </a:xfrm>
          <a:prstGeom prst="rect">
            <a:avLst/>
          </a:prstGeom>
        </p:spPr>
        <p:txBody>
          <a:bodyPr anchor="t" rtlCol="false" tIns="0" lIns="0" bIns="0" rIns="0">
            <a:spAutoFit/>
          </a:bodyPr>
          <a:lstStyle/>
          <a:p>
            <a:pPr algn="l" marL="574306" indent="-287153" lvl="1">
              <a:lnSpc>
                <a:spcPts val="4548"/>
              </a:lnSpc>
              <a:buFont typeface="Arial"/>
              <a:buChar char="•"/>
            </a:pPr>
            <a:r>
              <a:rPr lang="en-US" b="true" sz="2660">
                <a:solidFill>
                  <a:srgbClr val="1C0140"/>
                </a:solidFill>
                <a:latin typeface="Proxima Nova Bold"/>
                <a:ea typeface="Proxima Nova Bold"/>
                <a:cs typeface="Proxima Nova Bold"/>
                <a:sym typeface="Proxima Nova Bold"/>
              </a:rPr>
              <a:t>Implemented using an ESP32 microcontroller to control traffic signals</a:t>
            </a:r>
          </a:p>
          <a:p>
            <a:pPr algn="l" marL="574306" indent="-287153" lvl="1">
              <a:lnSpc>
                <a:spcPts val="4548"/>
              </a:lnSpc>
              <a:buFont typeface="Arial"/>
              <a:buChar char="•"/>
            </a:pPr>
            <a:r>
              <a:rPr lang="en-US" b="true" sz="2660">
                <a:solidFill>
                  <a:srgbClr val="1C0140"/>
                </a:solidFill>
                <a:latin typeface="Proxima Nova Bold"/>
                <a:ea typeface="Proxima Nova Bold"/>
                <a:cs typeface="Proxima Nova Bold"/>
                <a:sym typeface="Proxima Nova Bold"/>
              </a:rPr>
              <a:t>Emergency vehicles transmit Bluetooth signals via mobile devices</a:t>
            </a:r>
          </a:p>
          <a:p>
            <a:pPr algn="l" marL="574306" indent="-287153" lvl="1">
              <a:lnSpc>
                <a:spcPts val="4548"/>
              </a:lnSpc>
              <a:buFont typeface="Arial"/>
              <a:buChar char="•"/>
            </a:pPr>
            <a:r>
              <a:rPr lang="en-US" b="true" sz="2660">
                <a:solidFill>
                  <a:srgbClr val="1C0140"/>
                </a:solidFill>
                <a:latin typeface="Proxima Nova Bold"/>
                <a:ea typeface="Proxima Nova Bold"/>
                <a:cs typeface="Proxima Nova Bold"/>
                <a:sym typeface="Proxima Nova Bold"/>
              </a:rPr>
              <a:t>ESP32 detects signals and identifies the approaching direction</a:t>
            </a:r>
          </a:p>
          <a:p>
            <a:pPr algn="l" marL="574306" indent="-287153" lvl="1">
              <a:lnSpc>
                <a:spcPts val="4548"/>
              </a:lnSpc>
              <a:buFont typeface="Arial"/>
              <a:buChar char="•"/>
            </a:pPr>
            <a:r>
              <a:rPr lang="en-US" b="true" sz="2660">
                <a:solidFill>
                  <a:srgbClr val="1C0140"/>
                </a:solidFill>
                <a:latin typeface="Proxima Nova Bold"/>
                <a:ea typeface="Proxima Nova Bold"/>
                <a:cs typeface="Proxima Nova Bold"/>
                <a:sym typeface="Proxima Nova Bold"/>
              </a:rPr>
              <a:t>Traffic lights are overridden in real-time through programmed logic</a:t>
            </a:r>
          </a:p>
          <a:p>
            <a:pPr algn="l" marL="574306" indent="-287153" lvl="1">
              <a:lnSpc>
                <a:spcPts val="4548"/>
              </a:lnSpc>
              <a:buFont typeface="Arial"/>
              <a:buChar char="•"/>
            </a:pPr>
            <a:r>
              <a:rPr lang="en-US" b="true" sz="2660">
                <a:solidFill>
                  <a:srgbClr val="1C0140"/>
                </a:solidFill>
                <a:latin typeface="Proxima Nova Bold"/>
                <a:ea typeface="Proxima Nova Bold"/>
                <a:cs typeface="Proxima Nova Bold"/>
                <a:sym typeface="Proxima Nova Bold"/>
              </a:rPr>
              <a:t>Priority is determined using seriousness, signal strength and detection timing.</a:t>
            </a:r>
          </a:p>
          <a:p>
            <a:pPr algn="l" marL="574306" indent="-287153" lvl="1">
              <a:lnSpc>
                <a:spcPts val="4548"/>
              </a:lnSpc>
              <a:buFont typeface="Arial"/>
              <a:buChar char="•"/>
            </a:pPr>
            <a:r>
              <a:rPr lang="en-US" b="true" sz="2660">
                <a:solidFill>
                  <a:srgbClr val="1C0140"/>
                </a:solidFill>
                <a:latin typeface="Proxima Nova Bold"/>
                <a:ea typeface="Proxima Nova Bold"/>
                <a:cs typeface="Proxima Nova Bold"/>
                <a:sym typeface="Proxima Nova Bold"/>
              </a:rPr>
              <a:t>System ensures lane clearance and sequential vehicle handling through embedded control logic</a:t>
            </a:r>
          </a:p>
          <a:p>
            <a:pPr algn="l">
              <a:lnSpc>
                <a:spcPts val="4548"/>
              </a:lnSpc>
            </a:pPr>
          </a:p>
        </p:txBody>
      </p:sp>
      <p:sp>
        <p:nvSpPr>
          <p:cNvPr name="TextBox 4" id="4"/>
          <p:cNvSpPr txBox="true"/>
          <p:nvPr/>
        </p:nvSpPr>
        <p:spPr>
          <a:xfrm rot="0">
            <a:off x="3832176" y="892071"/>
            <a:ext cx="10623648" cy="1187818"/>
          </a:xfrm>
          <a:prstGeom prst="rect">
            <a:avLst/>
          </a:prstGeom>
        </p:spPr>
        <p:txBody>
          <a:bodyPr anchor="t" rtlCol="false" tIns="0" lIns="0" bIns="0" rIns="0">
            <a:spAutoFit/>
          </a:bodyPr>
          <a:lstStyle/>
          <a:p>
            <a:pPr algn="l">
              <a:lnSpc>
                <a:spcPts val="8601"/>
              </a:lnSpc>
            </a:pPr>
            <a:r>
              <a:rPr lang="en-US" sz="9774" spc="-615" b="true">
                <a:solidFill>
                  <a:srgbClr val="1C0140"/>
                </a:solidFill>
                <a:latin typeface="Proxima Nova Bold"/>
                <a:ea typeface="Proxima Nova Bold"/>
                <a:cs typeface="Proxima Nova Bold"/>
                <a:sym typeface="Proxima Nova Bold"/>
              </a:rPr>
              <a:t>Proposed Solution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0504943" y="3335721"/>
            <a:ext cx="7483645" cy="4959992"/>
          </a:xfrm>
          <a:custGeom>
            <a:avLst/>
            <a:gdLst/>
            <a:ahLst/>
            <a:cxnLst/>
            <a:rect r="r" b="b" t="t" l="l"/>
            <a:pathLst>
              <a:path h="4959992" w="7483645">
                <a:moveTo>
                  <a:pt x="0" y="0"/>
                </a:moveTo>
                <a:lnTo>
                  <a:pt x="7483646" y="0"/>
                </a:lnTo>
                <a:lnTo>
                  <a:pt x="7483646" y="4959992"/>
                </a:lnTo>
                <a:lnTo>
                  <a:pt x="0" y="4959992"/>
                </a:lnTo>
                <a:lnTo>
                  <a:pt x="0" y="0"/>
                </a:lnTo>
                <a:close/>
              </a:path>
            </a:pathLst>
          </a:custGeom>
          <a:blipFill>
            <a:blip r:embed="rId2"/>
            <a:stretch>
              <a:fillRect l="-803" t="0" r="-803" b="-2138"/>
            </a:stretch>
          </a:blipFill>
        </p:spPr>
      </p:sp>
      <p:sp>
        <p:nvSpPr>
          <p:cNvPr name="TextBox 3" id="3"/>
          <p:cNvSpPr txBox="true"/>
          <p:nvPr/>
        </p:nvSpPr>
        <p:spPr>
          <a:xfrm rot="0">
            <a:off x="5305052" y="184562"/>
            <a:ext cx="6761351" cy="1146993"/>
          </a:xfrm>
          <a:prstGeom prst="rect">
            <a:avLst/>
          </a:prstGeom>
        </p:spPr>
        <p:txBody>
          <a:bodyPr anchor="t" rtlCol="false" tIns="0" lIns="0" bIns="0" rIns="0">
            <a:spAutoFit/>
          </a:bodyPr>
          <a:lstStyle/>
          <a:p>
            <a:pPr algn="ctr">
              <a:lnSpc>
                <a:spcPts val="9339"/>
              </a:lnSpc>
              <a:spcBef>
                <a:spcPct val="0"/>
              </a:spcBef>
            </a:pPr>
            <a:r>
              <a:rPr lang="en-US" b="true" sz="6670" spc="-420">
                <a:solidFill>
                  <a:srgbClr val="000000"/>
                </a:solidFill>
                <a:latin typeface="Proxima Nova Bold"/>
                <a:ea typeface="Proxima Nova Bold"/>
                <a:cs typeface="Proxima Nova Bold"/>
                <a:sym typeface="Proxima Nova Bold"/>
              </a:rPr>
              <a:t>System Architecture</a:t>
            </a:r>
          </a:p>
        </p:txBody>
      </p:sp>
      <p:sp>
        <p:nvSpPr>
          <p:cNvPr name="TextBox 4" id="4"/>
          <p:cNvSpPr txBox="true"/>
          <p:nvPr/>
        </p:nvSpPr>
        <p:spPr>
          <a:xfrm rot="0">
            <a:off x="352274" y="1917573"/>
            <a:ext cx="9905555" cy="7729613"/>
          </a:xfrm>
          <a:prstGeom prst="rect">
            <a:avLst/>
          </a:prstGeom>
        </p:spPr>
        <p:txBody>
          <a:bodyPr anchor="t" rtlCol="false" tIns="0" lIns="0" bIns="0" rIns="0">
            <a:spAutoFit/>
          </a:bodyPr>
          <a:lstStyle/>
          <a:p>
            <a:pPr algn="just">
              <a:lnSpc>
                <a:spcPts val="4611"/>
              </a:lnSpc>
            </a:pPr>
            <a:r>
              <a:rPr lang="en-US" b="true" sz="3293" spc="-207">
                <a:solidFill>
                  <a:srgbClr val="000000"/>
                </a:solidFill>
                <a:latin typeface="Proxima Nova Bold"/>
                <a:ea typeface="Proxima Nova Bold"/>
                <a:cs typeface="Proxima Nova Bold"/>
                <a:sym typeface="Proxima Nova Bold"/>
              </a:rPr>
              <a:t>System Architecture:</a:t>
            </a:r>
          </a:p>
          <a:p>
            <a:pPr algn="just" marL="711094" indent="-355547" lvl="1">
              <a:lnSpc>
                <a:spcPts val="4611"/>
              </a:lnSpc>
              <a:buFont typeface="Arial"/>
              <a:buChar char="•"/>
            </a:pPr>
            <a:r>
              <a:rPr lang="en-US" b="true" sz="3293" spc="-207">
                <a:solidFill>
                  <a:srgbClr val="000000"/>
                </a:solidFill>
                <a:latin typeface="Proxima Nova Bold"/>
                <a:ea typeface="Proxima Nova Bold"/>
                <a:cs typeface="Proxima Nova Bold"/>
                <a:sym typeface="Proxima Nova Bold"/>
              </a:rPr>
              <a:t>Emergency Vehicle Unit: Mobile device transmitting Bluetooth signal</a:t>
            </a:r>
          </a:p>
          <a:p>
            <a:pPr algn="just" marL="711094" indent="-355547" lvl="1">
              <a:lnSpc>
                <a:spcPts val="4611"/>
              </a:lnSpc>
              <a:buFont typeface="Arial"/>
              <a:buChar char="•"/>
            </a:pPr>
            <a:r>
              <a:rPr lang="en-US" b="true" sz="3293" spc="-207">
                <a:solidFill>
                  <a:srgbClr val="000000"/>
                </a:solidFill>
                <a:latin typeface="Proxima Nova Bold"/>
                <a:ea typeface="Proxima Nova Bold"/>
                <a:cs typeface="Proxima Nova Bold"/>
                <a:sym typeface="Proxima Nova Bold"/>
              </a:rPr>
              <a:t>Communication Layer: Bluetooth interface for real-time signal detection</a:t>
            </a:r>
          </a:p>
          <a:p>
            <a:pPr algn="just" marL="711094" indent="-355547" lvl="1">
              <a:lnSpc>
                <a:spcPts val="4611"/>
              </a:lnSpc>
              <a:buFont typeface="Arial"/>
              <a:buChar char="•"/>
            </a:pPr>
            <a:r>
              <a:rPr lang="en-US" b="true" sz="3293" spc="-207">
                <a:solidFill>
                  <a:srgbClr val="000000"/>
                </a:solidFill>
                <a:latin typeface="Proxima Nova Bold"/>
                <a:ea typeface="Proxima Nova Bold"/>
                <a:cs typeface="Proxima Nova Bold"/>
                <a:sym typeface="Proxima Nova Bold"/>
              </a:rPr>
              <a:t>Control Unit: ESP32 microcontroller processes inputs and applies logic</a:t>
            </a:r>
          </a:p>
          <a:p>
            <a:pPr algn="just" marL="711094" indent="-355547" lvl="1">
              <a:lnSpc>
                <a:spcPts val="4611"/>
              </a:lnSpc>
              <a:buFont typeface="Arial"/>
              <a:buChar char="•"/>
            </a:pPr>
            <a:r>
              <a:rPr lang="en-US" b="true" sz="3293" spc="-207">
                <a:solidFill>
                  <a:srgbClr val="000000"/>
                </a:solidFill>
                <a:latin typeface="Proxima Nova Bold"/>
                <a:ea typeface="Proxima Nova Bold"/>
                <a:cs typeface="Proxima Nova Bold"/>
                <a:sym typeface="Proxima Nova Bold"/>
              </a:rPr>
              <a:t>Decision Module: Priority algorithm based on signal strength &amp; timing</a:t>
            </a:r>
          </a:p>
          <a:p>
            <a:pPr algn="just" marL="711094" indent="-355547" lvl="1">
              <a:lnSpc>
                <a:spcPts val="4611"/>
              </a:lnSpc>
              <a:buFont typeface="Arial"/>
              <a:buChar char="•"/>
            </a:pPr>
            <a:r>
              <a:rPr lang="en-US" b="true" sz="3293" spc="-207">
                <a:solidFill>
                  <a:srgbClr val="000000"/>
                </a:solidFill>
                <a:latin typeface="Proxima Nova Bold"/>
                <a:ea typeface="Proxima Nova Bold"/>
                <a:cs typeface="Proxima Nova Bold"/>
                <a:sym typeface="Proxima Nova Bold"/>
              </a:rPr>
              <a:t>Traffic Signal Unit: LED-based signals controlled by ESP32</a:t>
            </a:r>
          </a:p>
          <a:p>
            <a:pPr algn="just" marL="711094" indent="-355547" lvl="1">
              <a:lnSpc>
                <a:spcPts val="4611"/>
              </a:lnSpc>
              <a:buFont typeface="Arial"/>
              <a:buChar char="•"/>
            </a:pPr>
            <a:r>
              <a:rPr lang="en-US" b="true" sz="3293" spc="-207">
                <a:solidFill>
                  <a:srgbClr val="000000"/>
                </a:solidFill>
                <a:latin typeface="Proxima Nova Bold"/>
                <a:ea typeface="Proxima Nova Bold"/>
                <a:cs typeface="Proxima Nova Bold"/>
                <a:sym typeface="Proxima Nova Bold"/>
              </a:rPr>
              <a:t>Output Action: Dynamic signal override and lane clearance at intersection</a:t>
            </a:r>
          </a:p>
          <a:p>
            <a:pPr algn="just">
              <a:lnSpc>
                <a:spcPts val="1475"/>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348362" y="-75238"/>
            <a:ext cx="15477756" cy="10313651"/>
          </a:xfrm>
          <a:prstGeom prst="rect">
            <a:avLst/>
          </a:prstGeom>
        </p:spPr>
        <p:txBody>
          <a:bodyPr anchor="t" rtlCol="false" tIns="0" lIns="0" bIns="0" rIns="0">
            <a:spAutoFit/>
          </a:bodyPr>
          <a:lstStyle/>
          <a:p>
            <a:pPr algn="just">
              <a:lnSpc>
                <a:spcPts val="8436"/>
              </a:lnSpc>
              <a:spcBef>
                <a:spcPct val="0"/>
              </a:spcBef>
            </a:pPr>
            <a:r>
              <a:rPr lang="en-US" b="true" sz="6025" spc="-379">
                <a:solidFill>
                  <a:srgbClr val="000000"/>
                </a:solidFill>
                <a:latin typeface="Proxima Nova Bold"/>
                <a:ea typeface="Proxima Nova Bold"/>
                <a:cs typeface="Proxima Nova Bold"/>
                <a:sym typeface="Proxima Nova Bold"/>
              </a:rPr>
              <a:t>Priority Logic:</a:t>
            </a:r>
          </a:p>
          <a:p>
            <a:pPr algn="just">
              <a:lnSpc>
                <a:spcPts val="8436"/>
              </a:lnSpc>
              <a:spcBef>
                <a:spcPct val="0"/>
              </a:spcBef>
            </a:pPr>
          </a:p>
          <a:p>
            <a:pPr algn="just">
              <a:lnSpc>
                <a:spcPts val="6476"/>
              </a:lnSpc>
              <a:spcBef>
                <a:spcPct val="0"/>
              </a:spcBef>
            </a:pPr>
            <a:r>
              <a:rPr lang="en-US" b="true" sz="4625" spc="-291">
                <a:solidFill>
                  <a:srgbClr val="000000"/>
                </a:solidFill>
                <a:latin typeface="Proxima Nova Bold"/>
                <a:ea typeface="Proxima Nova Bold"/>
                <a:cs typeface="Proxima Nova Bold"/>
                <a:sym typeface="Proxima Nova Bold"/>
              </a:rPr>
              <a:t>-</a:t>
            </a:r>
            <a:r>
              <a:rPr lang="en-US" sz="4625" spc="-291">
                <a:solidFill>
                  <a:srgbClr val="000000"/>
                </a:solidFill>
                <a:latin typeface="Proxima Nova"/>
                <a:ea typeface="Proxima Nova"/>
                <a:cs typeface="Proxima Nova"/>
                <a:sym typeface="Proxima Nova"/>
              </a:rPr>
              <a:t>-</a:t>
            </a:r>
            <a:r>
              <a:rPr lang="en-US" b="true" sz="4625" spc="-291">
                <a:solidFill>
                  <a:srgbClr val="000000"/>
                </a:solidFill>
                <a:latin typeface="Proxima Nova Bold"/>
                <a:ea typeface="Proxima Nova Bold"/>
                <a:cs typeface="Proxima Nova Bold"/>
                <a:sym typeface="Proxima Nova Bold"/>
              </a:rPr>
              <a:t>Emergency Severity Level (Highest Priority): Critical cases are always prioritized first</a:t>
            </a:r>
          </a:p>
          <a:p>
            <a:pPr algn="just">
              <a:lnSpc>
                <a:spcPts val="6476"/>
              </a:lnSpc>
              <a:spcBef>
                <a:spcPct val="0"/>
              </a:spcBef>
            </a:pPr>
          </a:p>
          <a:p>
            <a:pPr algn="just">
              <a:lnSpc>
                <a:spcPts val="6476"/>
              </a:lnSpc>
              <a:spcBef>
                <a:spcPct val="0"/>
              </a:spcBef>
            </a:pPr>
            <a:r>
              <a:rPr lang="en-US" b="true" sz="4625" spc="-291">
                <a:solidFill>
                  <a:srgbClr val="000000"/>
                </a:solidFill>
                <a:latin typeface="Proxima Nova Bold"/>
                <a:ea typeface="Proxima Nova Bold"/>
                <a:cs typeface="Proxima Nova Bold"/>
                <a:sym typeface="Proxima Nova Bold"/>
              </a:rPr>
              <a:t>--Distance to Intersection: Among same severity, the closer vehicle gets priority</a:t>
            </a:r>
          </a:p>
          <a:p>
            <a:pPr algn="just">
              <a:lnSpc>
                <a:spcPts val="6476"/>
              </a:lnSpc>
              <a:spcBef>
                <a:spcPct val="0"/>
              </a:spcBef>
            </a:pPr>
          </a:p>
          <a:p>
            <a:pPr algn="just">
              <a:lnSpc>
                <a:spcPts val="6476"/>
              </a:lnSpc>
              <a:spcBef>
                <a:spcPct val="0"/>
              </a:spcBef>
            </a:pPr>
            <a:r>
              <a:rPr lang="en-US" b="true" sz="4625" spc="-291">
                <a:solidFill>
                  <a:srgbClr val="000000"/>
                </a:solidFill>
                <a:latin typeface="Proxima Nova Bold"/>
                <a:ea typeface="Proxima Nova Bold"/>
                <a:cs typeface="Proxima Nova Bold"/>
                <a:sym typeface="Proxima Nova Bold"/>
              </a:rPr>
              <a:t>--Pre-Clearance Status: Routes that can be cleared faster are preferred</a:t>
            </a:r>
          </a:p>
          <a:p>
            <a:pPr algn="just">
              <a:lnSpc>
                <a:spcPts val="6476"/>
              </a:lnSpc>
              <a:spcBef>
                <a:spcPct val="0"/>
              </a:spcBef>
            </a:pPr>
          </a:p>
          <a:p>
            <a:pPr algn="just">
              <a:lnSpc>
                <a:spcPts val="6476"/>
              </a:lnSpc>
              <a:spcBef>
                <a:spcPct val="0"/>
              </a:spcBef>
            </a:pPr>
            <a:r>
              <a:rPr lang="en-US" b="true" sz="4625" spc="-291">
                <a:solidFill>
                  <a:srgbClr val="000000"/>
                </a:solidFill>
                <a:latin typeface="Proxima Nova Bold"/>
                <a:ea typeface="Proxima Nova Bold"/>
                <a:cs typeface="Proxima Nova Bold"/>
                <a:sym typeface="Proxima Nova Bold"/>
              </a:rPr>
              <a:t>--Arrival Timing: Used as a final tie-breaker if conditions are equal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32776" y="-509576"/>
            <a:ext cx="9222448" cy="10796576"/>
          </a:xfrm>
          <a:custGeom>
            <a:avLst/>
            <a:gdLst/>
            <a:ahLst/>
            <a:cxnLst/>
            <a:rect r="r" b="b" t="t" l="l"/>
            <a:pathLst>
              <a:path h="10796576" w="9222448">
                <a:moveTo>
                  <a:pt x="0" y="0"/>
                </a:moveTo>
                <a:lnTo>
                  <a:pt x="9222448" y="0"/>
                </a:lnTo>
                <a:lnTo>
                  <a:pt x="9222448" y="10796576"/>
                </a:lnTo>
                <a:lnTo>
                  <a:pt x="0" y="10796576"/>
                </a:lnTo>
                <a:lnTo>
                  <a:pt x="0" y="0"/>
                </a:lnTo>
                <a:close/>
              </a:path>
            </a:pathLst>
          </a:custGeom>
          <a:blipFill>
            <a:blip r:embed="rId2"/>
            <a:stretch>
              <a:fillRect l="0" t="0" r="0" b="-2821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5096832" y="1551570"/>
            <a:ext cx="6820396" cy="7050511"/>
          </a:xfrm>
          <a:prstGeom prst="rect">
            <a:avLst/>
          </a:prstGeom>
        </p:spPr>
        <p:txBody>
          <a:bodyPr anchor="t" rtlCol="false" tIns="0" lIns="0" bIns="0" rIns="0">
            <a:spAutoFit/>
          </a:bodyPr>
          <a:lstStyle/>
          <a:p>
            <a:pPr algn="ctr">
              <a:lnSpc>
                <a:spcPts val="9339"/>
              </a:lnSpc>
            </a:pPr>
            <a:r>
              <a:rPr lang="en-US" b="true" sz="6670" spc="-420">
                <a:solidFill>
                  <a:srgbClr val="000000"/>
                </a:solidFill>
                <a:latin typeface="Proxima Nova Bold"/>
                <a:ea typeface="Proxima Nova Bold"/>
                <a:cs typeface="Proxima Nova Bold"/>
                <a:sym typeface="Proxima Nova Bold"/>
              </a:rPr>
              <a:t>TECH STACK USED:</a:t>
            </a:r>
          </a:p>
          <a:p>
            <a:pPr algn="ctr">
              <a:lnSpc>
                <a:spcPts val="9339"/>
              </a:lnSpc>
            </a:pPr>
          </a:p>
          <a:p>
            <a:pPr algn="ctr">
              <a:lnSpc>
                <a:spcPts val="9339"/>
              </a:lnSpc>
            </a:pPr>
            <a:r>
              <a:rPr lang="en-US" b="true" sz="6670" spc="-420">
                <a:solidFill>
                  <a:srgbClr val="000000"/>
                </a:solidFill>
                <a:latin typeface="Proxima Nova Bold"/>
                <a:ea typeface="Proxima Nova Bold"/>
                <a:cs typeface="Proxima Nova Bold"/>
                <a:sym typeface="Proxima Nova Bold"/>
              </a:rPr>
              <a:t>1.Arduino IDE</a:t>
            </a:r>
          </a:p>
          <a:p>
            <a:pPr algn="ctr">
              <a:lnSpc>
                <a:spcPts val="9339"/>
              </a:lnSpc>
            </a:pPr>
            <a:r>
              <a:rPr lang="en-US" b="true" sz="6670" spc="-420">
                <a:solidFill>
                  <a:srgbClr val="000000"/>
                </a:solidFill>
                <a:latin typeface="Proxima Nova Bold"/>
                <a:ea typeface="Proxima Nova Bold"/>
                <a:cs typeface="Proxima Nova Bold"/>
                <a:sym typeface="Proxima Nova Bold"/>
              </a:rPr>
              <a:t>2.Streamlit</a:t>
            </a:r>
          </a:p>
          <a:p>
            <a:pPr algn="ctr">
              <a:lnSpc>
                <a:spcPts val="9339"/>
              </a:lnSpc>
            </a:pPr>
            <a:r>
              <a:rPr lang="en-US" b="true" sz="6670" spc="-420">
                <a:solidFill>
                  <a:srgbClr val="000000"/>
                </a:solidFill>
                <a:latin typeface="Proxima Nova Bold"/>
                <a:ea typeface="Proxima Nova Bold"/>
                <a:cs typeface="Proxima Nova Bold"/>
                <a:sym typeface="Proxima Nova Bold"/>
              </a:rPr>
              <a:t>3.nRF connect’</a:t>
            </a:r>
          </a:p>
          <a:p>
            <a:pPr algn="ctr">
              <a:lnSpc>
                <a:spcPts val="9339"/>
              </a:lnSpc>
              <a:spcBef>
                <a:spcPct val="0"/>
              </a:spcBef>
            </a:pPr>
            <a:r>
              <a:rPr lang="en-US" b="true" sz="6670" spc="-420">
                <a:solidFill>
                  <a:srgbClr val="000000"/>
                </a:solidFill>
                <a:latin typeface="Proxima Nova Bold"/>
                <a:ea typeface="Proxima Nova Bold"/>
                <a:cs typeface="Proxima Nova Bold"/>
                <a:sym typeface="Proxima Nova Bold"/>
              </a:rPr>
              <a:t>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DAHFfQTqBy8</dc:identifier>
  <dcterms:modified xsi:type="dcterms:W3CDTF">2011-08-01T06:04:30Z</dcterms:modified>
  <cp:revision>1</cp:revision>
  <dc:title>oding tr</dc:title>
</cp:coreProperties>
</file>